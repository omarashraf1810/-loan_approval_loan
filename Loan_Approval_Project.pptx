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9.xml"/><Relationship Id="rId14" Type="http://schemas.openxmlformats.org/officeDocument/2006/relationships/slide" Target="slides/slide20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libri"/>
              </a:rPr>
              <a:t>Loan status distribution (post-cleaning)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Loan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A97A"/>
              </a:solidFill>
              <a:effectLst/>
            </c:spPr>
          </c:dPt>
          <c:dPt>
            <c:idx val="1"/>
            <c:bubble3D val="0"/>
            <c:spPr>
              <a:solidFill>
                <a:srgbClr val="D9534F"/>
              </a:solidFill>
              <a:effectLst/>
            </c:spPr>
          </c:dPt>
          <c:dLbls>
            <c:dLbl>
              <c:idx val="0"/>
              <c:numFmt formatCode="#,##0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#,##0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Approved</c:v>
                </c:pt>
                <c:pt idx="1">
                  <c:v>Rejected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12039</c:v>
                </c:pt>
                <c:pt idx="1">
                  <c:v>6686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A4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2FA97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A9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A97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A9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FA97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9534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9534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9534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9534F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D9534F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D9534F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D9534F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D9534F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D9534F"/>
              </a:solidFill>
              <a:effectLst/>
            </c:spPr>
          </c:dPt>
          <c:cat>
            <c:multiLvlStrRef>
              <c:f>Sheet1!$A$2:$A$14</c:f>
              <c:multiLvlStrCache>
                <c:ptCount val="13"/>
                <c:lvl>
                  <c:pt idx="0">
                    <c:v>Credit Score</c:v>
                  </c:pt>
                  <c:pt idx="1">
                    <c:v>Savings</c:v>
                  </c:pt>
                  <c:pt idx="2">
                    <c:v>Bank Balance</c:v>
                  </c:pt>
                  <c:pt idx="3">
                    <c:v>Annual Income</c:v>
                  </c:pt>
                  <c:pt idx="4">
                    <c:v>Credit Card Utilization</c:v>
                  </c:pt>
                  <c:pt idx="5">
                    <c:v>Existing Loans</c:v>
                  </c:pt>
                  <c:pt idx="6">
                    <c:v>Existing Loan Amount</c:v>
                  </c:pt>
                  <c:pt idx="7">
                    <c:v>Loan Defaults</c:v>
                  </c:pt>
                  <c:pt idx="8">
                    <c:v>Monthly EMI</c:v>
                  </c:pt>
                  <c:pt idx="9">
                    <c:v>EMI-to-Income</c:v>
                  </c:pt>
                  <c:pt idx="10">
                    <c:v>Missed Payments</c:v>
                  </c:pt>
                  <c:pt idx="11">
                    <c:v>Debt-to-Income</c:v>
                  </c:pt>
                  <c:pt idx="12">
                    <c:v>Interest Rate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0.77</c:v>
                </c:pt>
                <c:pt idx="1">
                  <c:v>0.36</c:v>
                </c:pt>
                <c:pt idx="2">
                  <c:v>0.32</c:v>
                </c:pt>
                <c:pt idx="3">
                  <c:v>0.19</c:v>
                </c:pt>
                <c:pt idx="4">
                  <c:v>-0.31</c:v>
                </c:pt>
                <c:pt idx="5">
                  <c:v>-0.44</c:v>
                </c:pt>
                <c:pt idx="6">
                  <c:v>-0.47</c:v>
                </c:pt>
                <c:pt idx="7">
                  <c:v>-0.49</c:v>
                </c:pt>
                <c:pt idx="8">
                  <c:v>-0.52</c:v>
                </c:pt>
                <c:pt idx="9">
                  <c:v>-0.69</c:v>
                </c:pt>
                <c:pt idx="10">
                  <c:v>-0.7</c:v>
                </c:pt>
                <c:pt idx="11">
                  <c:v>-0.73</c:v>
                </c:pt>
                <c:pt idx="12">
                  <c:v>-0.75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-0.9"/>
        </c:scaling>
        <c:delete val="0"/>
        <c:axPos val="b"/>
        <c:majorGridlines>
          <c:spPr>
            <a:ln w="12700" cap="flat">
              <a:solidFill>
                <a:srgbClr val="E3E6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95.13</c:v>
                </c:pt>
                <c:pt idx="1">
                  <c:v>93.75</c:v>
                </c:pt>
                <c:pt idx="2">
                  <c:v>95.46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6E86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95.13</c:v>
                </c:pt>
                <c:pt idx="1">
                  <c:v>94.8</c:v>
                </c:pt>
                <c:pt idx="2">
                  <c:v>94.93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97.42</c:v>
                </c:pt>
                <c:pt idx="1">
                  <c:v>95.52</c:v>
                </c:pt>
                <c:pt idx="2">
                  <c:v>98.18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2FA9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96.26</c:v>
                </c:pt>
                <c:pt idx="1">
                  <c:v>95.16</c:v>
                </c:pt>
                <c:pt idx="2">
                  <c:v>96.53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1" i="0" u="none" strike="noStrike">
                <a:solidFill>
                  <a:srgbClr val="1F2A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0"/>
        </c:scaling>
        <c:delete val="0"/>
        <c:axPos val="l"/>
        <c:majorGridlines>
          <c:spPr>
            <a:ln w="12700" cap="flat">
              <a:solidFill>
                <a:srgbClr val="E3E6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85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85"/>
                    </a:solidFill>
                    <a:latin typeface="Arial"/>
                  </a:rPr>
                  <a:t>Score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A4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Loan status after cleaning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Applications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Approved</c:v>
                </c:pt>
                <c:pt idx="1">
                  <c:v>Rejected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12039</c:v>
                </c:pt>
                <c:pt idx="1">
                  <c:v>6686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Selected feature correlations with Loan Status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Credit Score</c:v>
                </c:pt>
                <c:pt idx="1">
                  <c:v>Savings</c:v>
                </c:pt>
                <c:pt idx="2">
                  <c:v>Bank Balance</c:v>
                </c:pt>
                <c:pt idx="3">
                  <c:v>Annual Income</c:v>
                </c:pt>
                <c:pt idx="4">
                  <c:v>Credit Card Utilization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0.77254</c:v>
                </c:pt>
                <c:pt idx="1">
                  <c:v>0.359856</c:v>
                </c:pt>
                <c:pt idx="2">
                  <c:v>0.320344</c:v>
                </c:pt>
                <c:pt idx="3">
                  <c:v>0.185931</c:v>
                </c:pt>
                <c:pt idx="4">
                  <c:v>-0.306182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5"/>
          <c:min val="-0.4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Strongest negative correlations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Interest Rate</c:v>
                </c:pt>
                <c:pt idx="1">
                  <c:v>Debt-to-Income</c:v>
                </c:pt>
                <c:pt idx="2">
                  <c:v>Missed Payments</c:v>
                </c:pt>
                <c:pt idx="3">
                  <c:v>EMI-to-Income</c:v>
                </c:pt>
                <c:pt idx="4">
                  <c:v>Loan Burden</c:v>
                </c:pt>
                <c:pt idx="5">
                  <c:v>Loan Defaults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-0.753434</c:v>
                </c:pt>
                <c:pt idx="1">
                  <c:v>-0.727588</c:v>
                </c:pt>
                <c:pt idx="2">
                  <c:v>-0.704966</c:v>
                </c:pt>
                <c:pt idx="3">
                  <c:v>-0.693131</c:v>
                </c:pt>
                <c:pt idx="4">
                  <c:v>-0.512257</c:v>
                </c:pt>
                <c:pt idx="5">
                  <c:v>-0.488919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"/>
          <c:min val="-0.8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Test-set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Decision Tree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95.13</c:v>
                </c:pt>
                <c:pt idx="1">
                  <c:v>93.75</c:v>
                </c:pt>
                <c:pt idx="2">
                  <c:v>95.46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Decision Tree</c:v>
                </c:pt>
                <c:pt idx="2">
                  <c:v>Random Forest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96.26</c:v>
                </c:pt>
                <c:pt idx="1">
                  <c:v>95.16</c:v>
                </c:pt>
                <c:pt idx="2">
                  <c:v>96.53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9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Test-set prediction counts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 Rejected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Rejected</c:v>
                </c:pt>
                <c:pt idx="1">
                  <c:v>Approved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1189</c:v>
                </c:pt>
                <c:pt idx="1">
                  <c:v>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Predicted Approved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Rejected</c:v>
                </c:pt>
                <c:pt idx="1">
                  <c:v>Approved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124</c:v>
                </c:pt>
                <c:pt idx="1">
                  <c:v>2322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dPt>
            <c:idx val="0"/>
            <c:spPr>
              <a:solidFill>
                <a:srgbClr val="DA534F"/>
              </a:solidFill>
              <a:ln>
                <a:noFill/>
              </a:ln>
            </c:spPr>
          </c:dPt>
          <c:dPt>
            <c:idx val="1"/>
            <c:spPr>
              <a:solidFill>
                <a:srgbClr val="DA534F"/>
              </a:solidFill>
              <a:ln>
                <a:noFill/>
              </a:ln>
            </c:spPr>
          </c:dPt>
          <c:dPt>
            <c:idx val="2"/>
            <c:spPr>
              <a:solidFill>
                <a:srgbClr val="DA534F"/>
              </a:solidFill>
              <a:ln>
                <a:noFill/>
              </a:ln>
            </c:spPr>
          </c:dPt>
          <c:dPt>
            <c:idx val="3"/>
            <c:spPr>
              <a:solidFill>
                <a:srgbClr val="DA534F"/>
              </a:solidFill>
              <a:ln>
                <a:noFill/>
              </a:ln>
            </c:spPr>
          </c:dPt>
          <c:dPt>
            <c:idx val="4"/>
            <c:spPr>
              <a:solidFill>
                <a:srgbClr val="DA534F"/>
              </a:solidFill>
              <a:ln>
                <a:noFill/>
              </a:ln>
            </c:spPr>
          </c:dPt>
          <c:dPt>
            <c:idx val="5"/>
            <c:spPr>
              <a:solidFill>
                <a:srgbClr val="DA534F"/>
              </a:solidFill>
              <a:ln>
                <a:noFill/>
              </a:ln>
            </c:spPr>
          </c:dPt>
          <c:dPt>
            <c:idx val="6"/>
            <c:spPr>
              <a:solidFill>
                <a:srgbClr val="DA534F"/>
              </a:solidFill>
              <a:ln>
                <a:noFill/>
              </a:ln>
            </c:spPr>
          </c:dPt>
          <c:dPt>
            <c:idx val="7"/>
            <c:spPr>
              <a:solidFill>
                <a:srgbClr val="DA534F"/>
              </a:solidFill>
              <a:ln>
                <a:noFill/>
              </a:ln>
            </c:spPr>
          </c:dPt>
          <c:dPt>
            <c:idx val="8"/>
            <c:spPr>
              <a:solidFill>
                <a:srgbClr val="DA534F"/>
              </a:solidFill>
              <a:ln>
                <a:noFill/>
              </a:ln>
            </c:spPr>
          </c:dPt>
          <c:dPt>
            <c:idx val="9"/>
            <c:spPr>
              <a:solidFill>
                <a:srgbClr val="2FAB7E"/>
              </a:solidFill>
              <a:ln>
                <a:noFill/>
              </a:ln>
            </c:spPr>
          </c:dPt>
          <c:dPt>
            <c:idx val="10"/>
            <c:spPr>
              <a:solidFill>
                <a:srgbClr val="2FAB7E"/>
              </a:solidFill>
              <a:ln>
                <a:noFill/>
              </a:ln>
            </c:spPr>
          </c:dPt>
          <c:dPt>
            <c:idx val="11"/>
            <c:spPr>
              <a:solidFill>
                <a:srgbClr val="2FAB7E"/>
              </a:solidFill>
              <a:ln>
                <a:noFill/>
              </a:ln>
            </c:spPr>
          </c:dPt>
          <c:dPt>
            <c:idx val="12"/>
            <c:spPr>
              <a:solidFill>
                <a:srgbClr val="2FAB7E"/>
              </a:solidFill>
              <a:ln>
                <a:noFill/>
              </a:ln>
            </c:spPr>
          </c:dPt>
          <c:cat>
            <c:strRef>
              <c:f>Sheet1!$A$2:$A$14</c:f>
              <c:strCache>
                <c:ptCount val="13"/>
                <c:pt idx="0">
                  <c:v>Interest Rate</c:v>
                </c:pt>
                <c:pt idx="1">
                  <c:v>Debt-to-Income</c:v>
                </c:pt>
                <c:pt idx="2">
                  <c:v>Missed Payments</c:v>
                </c:pt>
                <c:pt idx="3">
                  <c:v>EMI-to-Income</c:v>
                </c:pt>
                <c:pt idx="4">
                  <c:v>Monthly EMI</c:v>
                </c:pt>
                <c:pt idx="5">
                  <c:v>Loan Defaults</c:v>
                </c:pt>
                <c:pt idx="6">
                  <c:v>Existing Loan Amount</c:v>
                </c:pt>
                <c:pt idx="7">
                  <c:v>Existing Loans</c:v>
                </c:pt>
                <c:pt idx="8">
                  <c:v>Credit Card Utilization</c:v>
                </c:pt>
                <c:pt idx="9">
                  <c:v>Annual Income</c:v>
                </c:pt>
                <c:pt idx="10">
                  <c:v>Bank Balance</c:v>
                </c:pt>
                <c:pt idx="11">
                  <c:v>Savings</c:v>
                </c:pt>
                <c:pt idx="12">
                  <c:v>Credit Score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-0.75</c:v>
                </c:pt>
                <c:pt idx="1">
                  <c:v>-0.73</c:v>
                </c:pt>
                <c:pt idx="2">
                  <c:v>-0.7</c:v>
                </c:pt>
                <c:pt idx="3">
                  <c:v>-0.69</c:v>
                </c:pt>
                <c:pt idx="4">
                  <c:v>-0.52</c:v>
                </c:pt>
                <c:pt idx="5">
                  <c:v>-0.49</c:v>
                </c:pt>
                <c:pt idx="6">
                  <c:v>-0.47</c:v>
                </c:pt>
                <c:pt idx="7">
                  <c:v>-0.44</c:v>
                </c:pt>
                <c:pt idx="8">
                  <c:v>-0.31</c:v>
                </c:pt>
                <c:pt idx="9">
                  <c:v>0.19</c:v>
                </c:pt>
                <c:pt idx="10">
                  <c:v>0.32</c:v>
                </c:pt>
                <c:pt idx="11">
                  <c:v>0.36</c:v>
                </c:pt>
                <c:pt idx="12">
                  <c:v>0.77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 b="0">
                <a:solidFill>
                  <a:srgbClr val="1F2A5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-0.8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chart" Target="../charts/char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41B47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41B4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" y="105156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051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</a:t>
            </a:r>
            <a:endParaRPr lang="en-US" sz="198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Approval Prediction System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approach to classifying loan applications as Approved or Rejected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— Machine Learning · Epsilon AI</a:t>
            </a:r>
            <a:endParaRPr lang="en-US" sz="1300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582"/>
                </a:solidFill>
                <a:latin typeface="Aptos"/>
              </a:rPr>
              <a:t>Loan Approval Prediction — Machine Learning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51052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582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8288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630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objective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299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2996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cleaning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968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596896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1638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16382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&amp; key insights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7307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73075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463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14630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0299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202996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&amp; final results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5968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2596896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— the Streamlit app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31638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316382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Prediction — Machine Learning Project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&amp; objective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8288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reviewing every loan application is slow, inconsistent, and prone to human bias. Banks need a fast, data-driven way to estimate an applicant's credit risk.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41732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supervised binary classification model that predicts whether a loan application should be Approved or Rejected, based on the applicant's demographic, financial, and credit history data.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840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40080" y="40233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20,000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6817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in dataset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3840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3429000" y="40233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46817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features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3840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217920" y="40233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46817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problem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06840" y="3840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9006840" y="40233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46817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chosen model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Prediction — Machine Learning Project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8288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loan applications 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39 features covering applicant demographics, income, credit history, and loan details.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6888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Application_ID — a unique identifier with no predictive value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rows with missing Other_Income, Investments, Bank_Balance, Credit_Score, Interest_Rate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missing Property_Value / Collateral_Value with 0 (no collateral = no value)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a small 'Others' category in Gender — data-entry noise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duplicate rows found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92240" y="1463040"/>
          <a:ext cx="5029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Prediction — Machine Learning Project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8288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40080" y="1417320"/>
            <a:ext cx="6583680" cy="4206240"/>
          </a:xfrm>
          <a:prstGeom prst="roundRect">
            <a:avLst>
              <a:gd name="adj" fmla="val 1739"/>
            </a:avLst>
          </a:prstGeom>
          <a:solidFill>
            <a:srgbClr val="141B47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160020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df.drop(['Application_ID'], axis=1,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inplace=True)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 = ['Other_Income', 'Investments',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'Bank_Balance', 'Credit_Score',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'Tax_Return_Filed', 'Interest_Rate']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df.dropna(subset=cols, inplace=True)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df.reset_index(drop=True, inplace=True)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Property_Value, Collateral_Value: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missing = 'no collateral pledged'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df.fillna(0, inplace=True)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df.drop(df[df['Gender'] == 'Others'].index,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inplace=True)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452360" y="1463040"/>
            <a:ext cx="4114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values in collateral fields weren't random — they simply mean the applicant offered no collateral. Filling with 0 preserves that signal instead of discarding it.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Prediction — Machine Learning Project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8288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40080" y="1417320"/>
            <a:ext cx="6583680" cy="4206240"/>
          </a:xfrm>
          <a:prstGeom prst="roundRect">
            <a:avLst>
              <a:gd name="adj" fmla="val 1739"/>
            </a:avLst>
          </a:prstGeom>
          <a:solidFill>
            <a:srgbClr val="141B47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160020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df['Total_Income'] = df['Annual_Income'] + (df['Other_Income'] * 12)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df['Loan_to_Income'] = df['Loan_Amount'] / df['Annual_Income']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df['EMI_to_Income'] = df['Monthly_EMI'] / df['Monthly_Income']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df['Experience_Ratio'] = df['Total_Work_Experience'] / df['Age']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df['Loan_Burden'] = (df['Existing_Loan_Amount']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+ df['Loan_Amount']) / df['Annual_Income']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452360" y="14630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Total_Income 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income picture, including irregular income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52360" y="22402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Loan_to_Income 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large the loan is relative to yearly earnings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452360" y="30175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EMI_to_Income 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monthly income already committed to debt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37947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Experience_Ratio 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stability relative to age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452360" y="45720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Loan_Burden 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debt load vs. annual income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Prediction — Machine Learning Project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loan decision?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8288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of each feature with loan approval (1 = Approved)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Prediction — Machine Learning Project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960120" y="1572768"/>
          <a:ext cx="10378440" cy="42519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pipeline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8288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40080" y="1417320"/>
            <a:ext cx="6035040" cy="4206240"/>
          </a:xfrm>
          <a:prstGeom prst="roundRect">
            <a:avLst>
              <a:gd name="adj" fmla="val 1739"/>
            </a:avLst>
          </a:prstGeom>
          <a:solidFill>
            <a:srgbClr val="141B47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1600200"/>
            <a:ext cx="5577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num_pipeline = Pipeline([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('scaler', RobustScaler())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categorical_pipeline = Pipeline([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('encoder', OneHotEncoder(handle_unknown='ignore'))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preprocessor = ColumnTransformer([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('num', num_pipeline, numeric_features),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('cat', categorical_pipeline, categorical_features)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949440" y="1463040"/>
            <a:ext cx="502920" cy="502920"/>
          </a:xfrm>
          <a:prstGeom prst="ellipse">
            <a:avLst/>
          </a:prstGeom>
          <a:solidFill>
            <a:srgbClr val="2FA97A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9494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8" name="Text 6"/>
          <p:cNvSpPr txBox="1"/>
          <p:nvPr/>
        </p:nvSpPr>
        <p:spPr>
          <a:xfrm>
            <a:off x="763524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635240" y="175564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RobustScaler — resistant to outliers in income &amp; loan amounts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949440" y="269748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94944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2651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299008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 — handles Employment_Type, Loan_Purpose, etc.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49440" y="3931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9494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6" name="Text 14"/>
          <p:cNvSpPr txBox="1"/>
          <p:nvPr/>
        </p:nvSpPr>
        <p:spPr>
          <a:xfrm>
            <a:off x="7635240" y="3886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635240" y="422452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both branches into one fitted preprocessing step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Prediction — Machine Learning Project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8288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classifiers trained on the same preprocessing pipeline and test split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08760"/>
          <a:ext cx="110642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gave the strongest overall balance of precision and recall, and was selected as the base model for tuning.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Prediction — Machine Learning Project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TextBox 8"/>
          <p:cNvSpPr txBox="1"/>
          <p:nvPr/>
        </p:nvSpPr>
        <p:spPr>
          <a:xfrm>
            <a:off x="1051560" y="541324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F2A5B"/>
                </a:solidFill>
                <a:latin typeface="Aptos"/>
              </a:rPr>
              <a:t>Logistic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541324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F2A5B"/>
                </a:solidFill>
                <a:latin typeface="Aptos"/>
              </a:rPr>
              <a:t>Decision Tree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541324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F2A5B"/>
                </a:solidFill>
                <a:latin typeface="Aptos"/>
              </a:rPr>
              <a:t>Random Forest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 &amp; final results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8288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40080" y="1371600"/>
            <a:ext cx="5577840" cy="3794760"/>
          </a:xfrm>
          <a:prstGeom prst="roundRect">
            <a:avLst>
              <a:gd name="adj" fmla="val 1928"/>
            </a:avLst>
          </a:prstGeom>
          <a:solidFill>
            <a:srgbClr val="141B47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1554480"/>
            <a:ext cx="51206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param_grid = {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'n_estimators': [100, 200, 300],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'max_depth': [10, 20, 30],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'min_samples_split': [2, 5],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'min_samples_leaf': [1, 2]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= GridSearchCV(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rf_pipeline, param_grid,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cv=5, scoring='f1', n_jobs=-1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grid.fit(x_train, y_train)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3716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parameters found
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max_depth: 20   ·   min_samples_leaf: 2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min_samples_split: 5   ·   n_estimators: 100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2514600"/>
            <a:ext cx="1188720" cy="1417320"/>
          </a:xfrm>
          <a:prstGeom prst="roundRect">
            <a:avLst>
              <a:gd name="adj" fmla="val 6154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0" y="26517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95.4%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3291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26680" y="2514600"/>
            <a:ext cx="1188720" cy="1417320"/>
          </a:xfrm>
          <a:prstGeom prst="roundRect">
            <a:avLst>
              <a:gd name="adj" fmla="val 6154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726680" y="26517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94.9%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726680" y="3291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052560" y="2514600"/>
            <a:ext cx="1188720" cy="1417320"/>
          </a:xfrm>
          <a:prstGeom prst="roundRect">
            <a:avLst>
              <a:gd name="adj" fmla="val 6154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052560" y="26517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A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98.1%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3291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378440" y="2514600"/>
            <a:ext cx="1188720" cy="1417320"/>
          </a:xfrm>
          <a:prstGeom prst="roundRect">
            <a:avLst>
              <a:gd name="adj" fmla="val 6154"/>
            </a:avLst>
          </a:prstGeom>
          <a:solidFill>
            <a:srgbClr val="F3F6FC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0378440" y="26517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96.5%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0378440" y="3291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16052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t>Original Random Forest — the final model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tuned model was saved with joblib as the production pipeline (preprocessing + model bundled together), so the exact transformations used in training are always applied at prediction time.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Prediction — Machine Learning Project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4572000" cy="4572000"/>
          </a:xfrm>
          <a:prstGeom prst="ellipse">
            <a:avLst/>
          </a:prstGeom>
          <a:solidFill>
            <a:srgbClr val="141B47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— the Streamlit app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8288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1143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3-page multi-page app makes the model usable by anyone on the team — no code required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141B47"/>
          </a:solidFill>
          <a:ln w="12700">
            <a:solidFill>
              <a:srgbClr val="2E3A7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943100" y="228600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94310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198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3375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84048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KPIs at a glance: total applications, approval rate, average interest rate, and approval rate by loan purpose.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96596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141B47"/>
          </a:solidFill>
          <a:ln w="12700">
            <a:solidFill>
              <a:srgbClr val="2E3A7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646420" y="228600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64642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98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33375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84048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exploratory analysis — correlation drivers, missed-payment impact, debt-to-income comparison, and an interactive applicant explorer.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96596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141B47"/>
          </a:solidFill>
          <a:ln w="12700">
            <a:solidFill>
              <a:srgbClr val="2E3A78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349740" y="228600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934974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98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33375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84048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form for a new applicant's data, returning an instant Approved / Rejected decision with the model's confidence score.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Prediction — Machine Learning Project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F2A5B"/>
                </a:solidFill>
                <a:latin typeface="Georgia"/>
              </a:rPr>
              <a:t>Dataset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96112"/>
            <a:ext cx="1828800" cy="32004"/>
          </a:xfrm>
          <a:prstGeom prst="rect">
            <a:avLst/>
          </a:prstGeom>
          <a:solidFill>
            <a:srgbClr val="E89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582"/>
                </a:solidFill>
                <a:latin typeface="Aptos"/>
              </a:rPr>
              <a:t>What are we predicting, and what does the cleaned dataset look like?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286000" cy="1234440"/>
          </a:xfrm>
          <a:prstGeom prst="round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645919"/>
            <a:ext cx="1956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2A5B"/>
                </a:solidFill>
                <a:latin typeface="Aptos"/>
              </a:rPr>
              <a:t>20,000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039112"/>
            <a:ext cx="195681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582"/>
                </a:solidFill>
                <a:latin typeface="Aptos"/>
              </a:rPr>
              <a:t>Applications before cleaning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508760"/>
            <a:ext cx="2286000" cy="1234440"/>
          </a:xfrm>
          <a:prstGeom prst="round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9272" y="1645919"/>
            <a:ext cx="1956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2A5B"/>
                </a:solidFill>
                <a:latin typeface="Aptos"/>
              </a:rPr>
              <a:t>18,725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9272" y="2039112"/>
            <a:ext cx="195681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582"/>
                </a:solidFill>
                <a:latin typeface="Aptos"/>
              </a:rPr>
              <a:t>Applications after cleaning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1508760"/>
            <a:ext cx="2286000" cy="1234440"/>
          </a:xfrm>
          <a:prstGeom prst="round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33872" y="1645919"/>
            <a:ext cx="1956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2A5B"/>
                </a:solidFill>
                <a:latin typeface="Aptos"/>
              </a:rPr>
              <a:t>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33872" y="2039112"/>
            <a:ext cx="195681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582"/>
                </a:solidFill>
                <a:latin typeface="Aptos"/>
              </a:rPr>
              <a:t>Original 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508760"/>
            <a:ext cx="2286000" cy="1234440"/>
          </a:xfrm>
          <a:prstGeom prst="round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1" y="1645919"/>
            <a:ext cx="1956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2A5B"/>
                </a:solidFill>
                <a:latin typeface="Apto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2039112"/>
            <a:ext cx="195681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582"/>
                </a:solidFill>
                <a:latin typeface="Aptos"/>
              </a:rPr>
              <a:t>Engineered features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3063240"/>
          <a:ext cx="54864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583680" y="3154680"/>
            <a:ext cx="3931920" cy="2514600"/>
          </a:xfrm>
          <a:prstGeom prst="round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3291840"/>
            <a:ext cx="3602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5B"/>
                </a:solidFill>
                <a:latin typeface="Aptos"/>
              </a:rPr>
              <a:t>Discussion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3685032"/>
            <a:ext cx="3602736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82"/>
                </a:solidFill>
                <a:latin typeface="Aptos"/>
              </a:rPr>
              <a:t>The target is not perfectly balanced: about 64.3% are Approved and 35.7% are Rejected.
So accuracy is useful, but we also check Precision, Recall and F1 instead of relying on one metric.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582"/>
                </a:solidFill>
                <a:latin typeface="Aptos"/>
              </a:rPr>
              <a:t>Loan Approval Prediction — Machine Learning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51052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582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F2A5B"/>
                </a:solidFill>
                <a:latin typeface="Georgia"/>
              </a:rPr>
              <a:t>Credit Score: the strongest positive signal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96112"/>
            <a:ext cx="1828800" cy="32004"/>
          </a:xfrm>
          <a:prstGeom prst="rect">
            <a:avLst/>
          </a:prstGeom>
          <a:solidFill>
            <a:srgbClr val="E89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582"/>
                </a:solidFill>
                <a:latin typeface="Aptos"/>
              </a:rPr>
              <a:t>Correlation with loan approval from the notebook's numerical analysis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554480"/>
          <a:ext cx="64922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52360" y="1645920"/>
            <a:ext cx="3794760" cy="1463040"/>
          </a:xfrm>
          <a:prstGeom prst="round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783080"/>
            <a:ext cx="3465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5B"/>
                </a:solidFill>
                <a:latin typeface="Aptos"/>
              </a:rPr>
              <a:t>What can we say?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2176272"/>
            <a:ext cx="346557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82"/>
                </a:solidFill>
                <a:latin typeface="Aptos"/>
              </a:rPr>
              <a:t>Credit Score has the strongest positive correlation in the analysis: +0.77.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3337560"/>
            <a:ext cx="3794760" cy="2331720"/>
          </a:xfrm>
          <a:prstGeom prst="round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3474720"/>
            <a:ext cx="3465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5B"/>
                </a:solidFill>
                <a:latin typeface="Aptos"/>
              </a:rPr>
              <a:t>How to discuss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3867911"/>
            <a:ext cx="3465576" cy="167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582"/>
                </a:solidFill>
                <a:latin typeface="Aptos"/>
              </a:rPr>
              <a:t>Higher credit scores are associated with a higher probability of approval in this dataset.
Important: correlation is not proof of causation. The Random Forest uses the feature together with the other applicant variables.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582"/>
                </a:solidFill>
                <a:latin typeface="Aptos"/>
              </a:rPr>
              <a:t>Loan Approval Prediction — Machine Learning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51052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582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F2A5B"/>
                </a:solidFill>
                <a:latin typeface="Georgia"/>
              </a:rPr>
              <a:t>What pushes approval downward?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96112"/>
            <a:ext cx="1828800" cy="32004"/>
          </a:xfrm>
          <a:prstGeom prst="rect">
            <a:avLst/>
          </a:prstGeom>
          <a:solidFill>
            <a:srgbClr val="E89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582"/>
                </a:solidFill>
                <a:latin typeface="Aptos"/>
              </a:rPr>
              <a:t>The strongest negative correlations point to repayment burden and risk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508760"/>
          <a:ext cx="65836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52360" y="1645920"/>
            <a:ext cx="3794760" cy="1828800"/>
          </a:xfrm>
          <a:prstGeom prst="round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783080"/>
            <a:ext cx="3465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5B"/>
                </a:solidFill>
                <a:latin typeface="Aptos"/>
              </a:rPr>
              <a:t>Main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2176272"/>
            <a:ext cx="346557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82"/>
                </a:solidFill>
                <a:latin typeface="Aptos"/>
              </a:rPr>
              <a:t>The model is not looking at income alone. It also captures how much of the applicant's income is already committed to debt and payments.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3703320"/>
            <a:ext cx="3794760" cy="2240280"/>
          </a:xfrm>
          <a:prstGeom prst="round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3840480"/>
            <a:ext cx="3465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5B"/>
                </a:solidFill>
                <a:latin typeface="Aptos"/>
              </a:rPr>
              <a:t>Good discussion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4233672"/>
            <a:ext cx="3465576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582"/>
                </a:solidFill>
                <a:latin typeface="Aptos"/>
              </a:rPr>
              <a:t>Why is Interest Rate so strongly negative?
A reasonable interpretation is that higher rates are associated with greater lending risk in the dataset, but this remains an association rather than a causal conclusion.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582"/>
                </a:solidFill>
                <a:latin typeface="Aptos"/>
              </a:rPr>
              <a:t>Loan Approval Prediction — Machine Learning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51052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582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F2A5B"/>
                </a:solidFill>
                <a:latin typeface="Georgia"/>
              </a:rPr>
              <a:t>Feature engineering: turning raw fields into risk signals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96112"/>
            <a:ext cx="1828800" cy="32004"/>
          </a:xfrm>
          <a:prstGeom prst="rect">
            <a:avLst/>
          </a:prstGeom>
          <a:solidFill>
            <a:srgbClr val="E89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5B"/>
                </a:solidFill>
                <a:latin typeface="Aptos"/>
              </a:rPr>
              <a:t>Total_Income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4173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82"/>
                </a:solidFill>
                <a:latin typeface="Aptos"/>
              </a:rPr>
              <a:t>Annual_Income + Other_Income ×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4173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582"/>
                </a:solidFill>
                <a:latin typeface="Aptos"/>
              </a:rPr>
              <a:t>captures the broader income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5B"/>
                </a:solidFill>
                <a:latin typeface="Aptos"/>
              </a:rPr>
              <a:t>Loan_to_Income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24028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82"/>
                </a:solidFill>
                <a:latin typeface="Aptos"/>
              </a:rPr>
              <a:t>Loan_Amount / Annual_Income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2402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582"/>
                </a:solidFill>
                <a:latin typeface="Aptos"/>
              </a:rPr>
              <a:t>measures loan size relative to earnings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5B"/>
                </a:solidFill>
                <a:latin typeface="Aptos"/>
              </a:rPr>
              <a:t>EMI_to_Income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06324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82"/>
                </a:solidFill>
                <a:latin typeface="Aptos"/>
              </a:rPr>
              <a:t>Monthly_EMI / Monthly_Income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0632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582"/>
                </a:solidFill>
                <a:latin typeface="Aptos"/>
              </a:rPr>
              <a:t>captures monthly repayment pressure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862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5B"/>
                </a:solidFill>
                <a:latin typeface="Aptos"/>
              </a:rPr>
              <a:t>Experience_Ratio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88620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82"/>
                </a:solidFill>
                <a:latin typeface="Aptos"/>
              </a:rPr>
              <a:t>Total_Work_Experience / 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8862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582"/>
                </a:solidFill>
                <a:latin typeface="Aptos"/>
              </a:rPr>
              <a:t>adds a stability perspective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091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5B"/>
                </a:solidFill>
                <a:latin typeface="Aptos"/>
              </a:rPr>
              <a:t>Loan_Burden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70916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82"/>
                </a:solidFill>
                <a:latin typeface="Aptos"/>
              </a:rPr>
              <a:t>(Existing_Loan_Amount + Loan_Amount) / Annual_Income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47091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582"/>
                </a:solidFill>
                <a:latin typeface="Aptos"/>
              </a:rPr>
              <a:t>combines current and new debt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486400"/>
            <a:ext cx="10469880" cy="594360"/>
          </a:xfrm>
          <a:prstGeom prst="round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582"/>
                </a:solidFill>
                <a:latin typeface="Aptos"/>
              </a:rPr>
              <a:t>Loan Approval Prediction — Machine Learning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51052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582"/>
                </a:solidFill>
                <a:latin typeface="Aptos"/>
              </a:rPr>
              <a:t>15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440680"/>
            <a:ext cx="10469880" cy="685800"/>
          </a:xfrm>
          <a:prstGeom prst="round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59552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5B"/>
                </a:solidFill>
                <a:latin typeface="Aptos"/>
              </a:rPr>
              <a:t>Discussion 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5522976"/>
            <a:ext cx="8458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82"/>
                </a:solidFill>
                <a:latin typeface="Aptos"/>
              </a:rPr>
              <a:t>The engineered ratios make relationships explicit — for example, the same loan amount can mean very different risk depending on income.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F2A5B"/>
                </a:solidFill>
                <a:latin typeface="Georgia"/>
              </a:rPr>
              <a:t>Model selection: why Random Forest?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96112"/>
            <a:ext cx="1828800" cy="32004"/>
          </a:xfrm>
          <a:prstGeom prst="rect">
            <a:avLst/>
          </a:prstGeom>
          <a:solidFill>
            <a:srgbClr val="E89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582"/>
                </a:solidFill>
                <a:latin typeface="Aptos"/>
              </a:rPr>
              <a:t>All models use the same preprocessing and the same held-out test split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554480"/>
          <a:ext cx="65836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52360" y="1645920"/>
            <a:ext cx="3794760" cy="1508760"/>
          </a:xfrm>
          <a:prstGeom prst="round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783080"/>
            <a:ext cx="3465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5B"/>
                </a:solidFill>
                <a:latin typeface="Aptos"/>
              </a:rPr>
              <a:t>Random Forest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2176272"/>
            <a:ext cx="34655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82"/>
                </a:solidFill>
                <a:latin typeface="Aptos"/>
              </a:rPr>
              <a:t>95.46% Accuracy
96.53% F1
98.18%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3429000"/>
            <a:ext cx="3794760" cy="2240280"/>
          </a:xfrm>
          <a:prstGeom prst="round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3566160"/>
            <a:ext cx="3465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5B"/>
                </a:solidFill>
                <a:latin typeface="Aptos"/>
              </a:rPr>
              <a:t>Why not Decision Tree?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3959352"/>
            <a:ext cx="3465576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582"/>
                </a:solidFill>
                <a:latin typeface="Aptos"/>
              </a:rPr>
              <a:t>The Decision Tree reaches 100% training accuracy but only 93.93% test accuracy in the notebook—an indication of overfitting.
Random Forest gives a stronger balance between generalization and performance.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582"/>
                </a:solidFill>
                <a:latin typeface="Aptos"/>
              </a:rPr>
              <a:t>Loan Approval Prediction — Machine Learning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51052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582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F2A5B"/>
                </a:solidFill>
                <a:latin typeface="Georgia"/>
              </a:rPr>
              <a:t>Random Forest: reading the confusion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96112"/>
            <a:ext cx="1828800" cy="32004"/>
          </a:xfrm>
          <a:prstGeom prst="rect">
            <a:avLst/>
          </a:prstGeom>
          <a:solidFill>
            <a:srgbClr val="E89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582"/>
                </a:solidFill>
                <a:latin typeface="Aptos"/>
              </a:rPr>
              <a:t>A useful slide for explaining what the 95.46% accuracy actually means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600200"/>
          <a:ext cx="61264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132320" y="1645920"/>
            <a:ext cx="4114800" cy="1508760"/>
          </a:xfrm>
          <a:prstGeom prst="round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96912" y="1783080"/>
            <a:ext cx="3785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5B"/>
                </a:solidFill>
                <a:latin typeface="Aptos"/>
              </a:rPr>
              <a:t>Correct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96912" y="2176272"/>
            <a:ext cx="3785615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82"/>
                </a:solidFill>
                <a:latin typeface="Aptos"/>
              </a:rPr>
              <a:t>1,189 Rejected correctly
2,322 Approved correctly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3429000"/>
            <a:ext cx="4114800" cy="2194560"/>
          </a:xfrm>
          <a:prstGeom prst="round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6912" y="3566160"/>
            <a:ext cx="3785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5B"/>
                </a:solidFill>
                <a:latin typeface="Aptos"/>
              </a:rPr>
              <a:t>Errors worth discussing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3959352"/>
            <a:ext cx="3785615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582"/>
                </a:solidFill>
                <a:latin typeface="Aptos"/>
              </a:rPr>
              <a:t>124 rejected applications were predicted as Approved (false positives).
43 approved applications were predicted as Rejected (false negatives).
This is why Recall and Precision matter alongside Accuracy.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582"/>
                </a:solidFill>
                <a:latin typeface="Aptos"/>
              </a:rPr>
              <a:t>Loan Approval Prediction — Machine Learning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51052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582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F2A5B"/>
                </a:solidFill>
                <a:latin typeface="Georgia"/>
              </a:rPr>
              <a:t>Final decision: keep the original Random Forest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96112"/>
            <a:ext cx="1828800" cy="32004"/>
          </a:xfrm>
          <a:prstGeom prst="rect">
            <a:avLst/>
          </a:prstGeom>
          <a:solidFill>
            <a:srgbClr val="E89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246120" cy="3566160"/>
          </a:xfrm>
          <a:prstGeom prst="round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45919"/>
            <a:ext cx="2916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A5B"/>
                </a:solidFill>
                <a:latin typeface="Aptos"/>
              </a:rPr>
              <a:t>Baseline Random Forest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039112"/>
            <a:ext cx="291693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582"/>
                </a:solidFill>
                <a:latin typeface="Aptos"/>
              </a:rPr>
              <a:t>Accuracy: 95.46%
Precision: 94.93%
Recall: 98.18%
F1 Score: 96.53%
This is the model selected for the final pipeline.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508760"/>
            <a:ext cx="3246120" cy="3566160"/>
          </a:xfrm>
          <a:prstGeom prst="round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70831" y="1645919"/>
            <a:ext cx="2916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A5B"/>
                </a:solidFill>
                <a:latin typeface="Aptos"/>
              </a:rPr>
              <a:t>Hyperparameter tuning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0831" y="2039112"/>
            <a:ext cx="291693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82"/>
                </a:solidFill>
                <a:latin typeface="Aptos"/>
              </a:rPr>
              <a:t>GridSearchCV tested:
• n_estimators
• max_depth
• min_samples_split
• min_samples_leaf
Best F1 during CV: 0.9663.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508760"/>
            <a:ext cx="3246120" cy="3566160"/>
          </a:xfrm>
          <a:prstGeom prst="round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5552" y="1645919"/>
            <a:ext cx="2916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A5B"/>
                </a:solidFill>
                <a:latin typeface="Aptos"/>
              </a:rPr>
              <a:t>Why we kept the original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5552" y="2039112"/>
            <a:ext cx="291693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82"/>
                </a:solidFill>
                <a:latin typeface="Aptos"/>
              </a:rPr>
              <a:t>On the held-out test set, the tuned model scored slightly lower than the original:
Accuracy: 95.38%
F1: 96.47%
So tuning did not improve the final test performance.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9496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2A5B"/>
                </a:solidFill>
                <a:latin typeface="Aptos"/>
              </a:rPr>
              <a:t>Key takeaway: the final choice is the model that performed best on the held-out test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582"/>
                </a:solidFill>
                <a:latin typeface="Aptos"/>
              </a:rPr>
              <a:t>Loan Approval Prediction — Machine Learning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1052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582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next steps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8288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tuned Random Forest reaches 95.4% accuracy and 96.5% F1 on held-out data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Score, Interest Rate, Debt-to-Income and payment history are the strongest predictors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pipeline (cleaning → engineering → preprocessing → model) is saved as one deployable artifact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Streamlit app puts the model in front of non-technical users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82880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gradient-boosted models (XGBoost / LightGBM) for a further accuracy gain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SHAP explainability so loan officers see why a decision was made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the model in production and retrain on new applications periodically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Streamlit app for internal deployment with access controls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Prediction — Machine Learning Project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457432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582"/>
                </a:solidFill>
                <a:latin typeface="Aptos"/>
              </a:rPr>
              <a:t>Loan Approval Prediction — Machine Learning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51052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582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41B47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669280" y="1828800"/>
            <a:ext cx="914400" cy="9144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66928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0" y="292608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0" y="37033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582"/>
                </a:solidFill>
                <a:latin typeface="Aptos"/>
              </a:rPr>
              <a:t>Loan Approval Prediction — Machine Learning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582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2026-09-03T10:08:44Z</dcterms:created>
  <dcterms:modified xsi:type="dcterms:W3CDTF">2026-09-03T10:08:44Z</dcterms:modified>
</cp:coreProperties>
</file>